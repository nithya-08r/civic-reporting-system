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2" r:id="rId4"/>
    <p:sldId id="259" r:id="rId5"/>
    <p:sldId id="260" r:id="rId6"/>
    <p:sldId id="271" r:id="rId7"/>
    <p:sldId id="272" r:id="rId8"/>
    <p:sldId id="265" r:id="rId9"/>
    <p:sldId id="267" r:id="rId10"/>
    <p:sldId id="269" r:id="rId11"/>
    <p:sldId id="273" r:id="rId12"/>
    <p:sldId id="274" r:id="rId13"/>
    <p:sldId id="275" r:id="rId14"/>
    <p:sldId id="263" r:id="rId15"/>
    <p:sldId id="279" r:id="rId16"/>
    <p:sldId id="276" r:id="rId17"/>
    <p:sldId id="277" r:id="rId18"/>
    <p:sldId id="278" r:id="rId1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586E9C-4DAB-4988-86C8-E6EAC79A8378}" v="7" dt="2026-03-02T13:07:27.064"/>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p:cViewPr varScale="1">
        <p:scale>
          <a:sx n="76" d="100"/>
          <a:sy n="76" d="100"/>
        </p:scale>
        <p:origin x="91" y="10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66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267200" y="2130425"/>
            <a:ext cx="2958465" cy="2199004"/>
          </a:xfrm>
          <a:prstGeom prst="rect">
            <a:avLst/>
          </a:prstGeom>
        </p:spPr>
        <p:txBody>
          <a:bodyPr wrap="square" lIns="0" tIns="0" rIns="0" bIns="0">
            <a:spAutoFit/>
          </a:bodyPr>
          <a:lstStyle>
            <a:lvl1pPr>
              <a:defRPr sz="66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761365" y="1325752"/>
            <a:ext cx="10009505" cy="441452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543800" y="5141548"/>
            <a:ext cx="3856137" cy="895117"/>
          </a:xfrm>
          <a:prstGeom prst="rect">
            <a:avLst/>
          </a:prstGeom>
        </p:spPr>
        <p:txBody>
          <a:bodyPr vert="horz" wrap="square" lIns="0" tIns="12700" rIns="0" bIns="0" rtlCol="0">
            <a:spAutoFit/>
          </a:bodyPr>
          <a:lstStyle/>
          <a:p>
            <a:pPr marR="1270" algn="ctr">
              <a:lnSpc>
                <a:spcPct val="100000"/>
              </a:lnSpc>
              <a:spcBef>
                <a:spcPts val="100"/>
              </a:spcBef>
            </a:pPr>
            <a:r>
              <a:rPr sz="1800" dirty="0">
                <a:latin typeface="Times New Roman"/>
                <a:cs typeface="Times New Roman"/>
              </a:rPr>
              <a:t>Project</a:t>
            </a:r>
            <a:r>
              <a:rPr sz="1800" spc="-90" dirty="0">
                <a:latin typeface="Times New Roman"/>
                <a:cs typeface="Times New Roman"/>
              </a:rPr>
              <a:t> </a:t>
            </a:r>
            <a:r>
              <a:rPr sz="1800" spc="-10" dirty="0">
                <a:latin typeface="Times New Roman"/>
                <a:cs typeface="Times New Roman"/>
              </a:rPr>
              <a:t>Guide</a:t>
            </a:r>
            <a:endParaRPr lang="en-IN" spc="-10" dirty="0">
              <a:latin typeface="Times New Roman"/>
              <a:cs typeface="Times New Roman"/>
            </a:endParaRPr>
          </a:p>
          <a:p>
            <a:pPr marR="1270" algn="ctr">
              <a:lnSpc>
                <a:spcPct val="100000"/>
              </a:lnSpc>
              <a:spcBef>
                <a:spcPts val="100"/>
              </a:spcBef>
            </a:pPr>
            <a:r>
              <a:rPr sz="1800" dirty="0">
                <a:latin typeface="Times New Roman"/>
                <a:cs typeface="Times New Roman"/>
              </a:rPr>
              <a:t>M</a:t>
            </a:r>
            <a:r>
              <a:rPr lang="en-IN" dirty="0" err="1">
                <a:latin typeface="Times New Roman"/>
                <a:cs typeface="Times New Roman"/>
              </a:rPr>
              <a:t>r</a:t>
            </a:r>
            <a:r>
              <a:rPr lang="en-IN" sz="1800" dirty="0" err="1">
                <a:latin typeface="Times New Roman"/>
                <a:cs typeface="Times New Roman"/>
              </a:rPr>
              <a:t>s</a:t>
            </a:r>
            <a:r>
              <a:rPr sz="1800" dirty="0">
                <a:latin typeface="Times New Roman"/>
                <a:cs typeface="Times New Roman"/>
              </a:rPr>
              <a:t>.</a:t>
            </a:r>
            <a:r>
              <a:rPr lang="en-IN" spc="-30" dirty="0">
                <a:latin typeface="Times New Roman"/>
                <a:cs typeface="Times New Roman"/>
              </a:rPr>
              <a:t>N</a:t>
            </a:r>
            <a:r>
              <a:rPr sz="1800" dirty="0">
                <a:latin typeface="Times New Roman"/>
                <a:cs typeface="Times New Roman"/>
              </a:rPr>
              <a:t>.</a:t>
            </a:r>
            <a:r>
              <a:rPr lang="en-IN" sz="1800" dirty="0">
                <a:latin typeface="Times New Roman"/>
                <a:cs typeface="Times New Roman"/>
              </a:rPr>
              <a:t>SUDHA</a:t>
            </a:r>
            <a:r>
              <a:rPr lang="en-IN" dirty="0">
                <a:latin typeface="Times New Roman"/>
                <a:cs typeface="Times New Roman"/>
              </a:rPr>
              <a:t> </a:t>
            </a:r>
            <a:r>
              <a:rPr lang="en-IN" spc="-10" dirty="0">
                <a:latin typeface="Times New Roman"/>
                <a:cs typeface="Times New Roman"/>
              </a:rPr>
              <a:t>B</a:t>
            </a:r>
            <a:r>
              <a:rPr sz="1800" spc="-10" dirty="0">
                <a:latin typeface="Times New Roman"/>
                <a:cs typeface="Times New Roman"/>
              </a:rPr>
              <a:t>.Tech.,</a:t>
            </a:r>
            <a:r>
              <a:rPr lang="en-IN" sz="1800" spc="-10" dirty="0">
                <a:latin typeface="Times New Roman"/>
                <a:cs typeface="Times New Roman"/>
              </a:rPr>
              <a:t>M.E.,</a:t>
            </a:r>
            <a:endParaRPr sz="1800" dirty="0">
              <a:latin typeface="Times New Roman"/>
              <a:cs typeface="Times New Roman"/>
            </a:endParaRPr>
          </a:p>
          <a:p>
            <a:pPr algn="ctr">
              <a:lnSpc>
                <a:spcPct val="100000"/>
              </a:lnSpc>
              <a:spcBef>
                <a:spcPts val="320"/>
              </a:spcBef>
            </a:pPr>
            <a:r>
              <a:rPr sz="1800" spc="-10" dirty="0">
                <a:latin typeface="Times New Roman"/>
                <a:cs typeface="Times New Roman"/>
              </a:rPr>
              <a:t>AP/CSE</a:t>
            </a:r>
            <a:endParaRPr sz="1800" dirty="0">
              <a:latin typeface="Times New Roman"/>
              <a:cs typeface="Times New Roman"/>
            </a:endParaRPr>
          </a:p>
        </p:txBody>
      </p:sp>
      <p:pic>
        <p:nvPicPr>
          <p:cNvPr id="3" name="object 3"/>
          <p:cNvPicPr/>
          <p:nvPr/>
        </p:nvPicPr>
        <p:blipFill>
          <a:blip r:embed="rId2" cstate="print"/>
          <a:stretch>
            <a:fillRect/>
          </a:stretch>
        </p:blipFill>
        <p:spPr>
          <a:xfrm>
            <a:off x="10290239" y="212171"/>
            <a:ext cx="1419224" cy="833119"/>
          </a:xfrm>
          <a:prstGeom prst="rect">
            <a:avLst/>
          </a:prstGeom>
        </p:spPr>
      </p:pic>
      <p:sp>
        <p:nvSpPr>
          <p:cNvPr id="4" name="object 4"/>
          <p:cNvSpPr txBox="1"/>
          <p:nvPr/>
        </p:nvSpPr>
        <p:spPr>
          <a:xfrm>
            <a:off x="4724400" y="700780"/>
            <a:ext cx="1888489" cy="391160"/>
          </a:xfrm>
          <a:prstGeom prst="rect">
            <a:avLst/>
          </a:prstGeom>
        </p:spPr>
        <p:txBody>
          <a:bodyPr vert="horz" wrap="square" lIns="0" tIns="12700" rIns="0" bIns="0" rtlCol="0">
            <a:spAutoFit/>
          </a:bodyPr>
          <a:lstStyle/>
          <a:p>
            <a:pPr marL="12700" algn="ctr">
              <a:lnSpc>
                <a:spcPct val="100000"/>
              </a:lnSpc>
              <a:spcBef>
                <a:spcPts val="100"/>
              </a:spcBef>
            </a:pPr>
            <a:r>
              <a:rPr sz="2400" b="1" spc="-10" dirty="0">
                <a:solidFill>
                  <a:srgbClr val="006EC0"/>
                </a:solidFill>
                <a:latin typeface="Times New Roman"/>
                <a:cs typeface="Times New Roman"/>
              </a:rPr>
              <a:t>(Autonomous)</a:t>
            </a:r>
            <a:endParaRPr sz="2400" dirty="0">
              <a:latin typeface="Times New Roman"/>
              <a:cs typeface="Times New Roman"/>
            </a:endParaRPr>
          </a:p>
        </p:txBody>
      </p:sp>
      <p:sp>
        <p:nvSpPr>
          <p:cNvPr id="5" name="object 5"/>
          <p:cNvSpPr txBox="1"/>
          <p:nvPr/>
        </p:nvSpPr>
        <p:spPr>
          <a:xfrm>
            <a:off x="1371600" y="1431753"/>
            <a:ext cx="9372600" cy="2641236"/>
          </a:xfrm>
          <a:prstGeom prst="rect">
            <a:avLst/>
          </a:prstGeom>
        </p:spPr>
        <p:txBody>
          <a:bodyPr vert="horz" wrap="square" lIns="0" tIns="12700" rIns="0" bIns="0" rtlCol="0">
            <a:spAutoFit/>
          </a:bodyPr>
          <a:lstStyle/>
          <a:p>
            <a:pPr marL="12065" marR="5080" algn="ctr">
              <a:lnSpc>
                <a:spcPct val="100000"/>
              </a:lnSpc>
              <a:spcBef>
                <a:spcPts val="100"/>
              </a:spcBef>
              <a:tabLst>
                <a:tab pos="6111240" algn="l"/>
              </a:tabLst>
            </a:pPr>
            <a:r>
              <a:rPr sz="2400" b="1" spc="-10" dirty="0">
                <a:latin typeface="Times New Roman"/>
                <a:cs typeface="Times New Roman"/>
              </a:rPr>
              <a:t>DEPARTMENT</a:t>
            </a:r>
            <a:r>
              <a:rPr sz="2400" b="1" spc="-60" dirty="0">
                <a:latin typeface="Times New Roman"/>
                <a:cs typeface="Times New Roman"/>
              </a:rPr>
              <a:t> </a:t>
            </a:r>
            <a:r>
              <a:rPr sz="2400" b="1" dirty="0">
                <a:latin typeface="Times New Roman"/>
                <a:cs typeface="Times New Roman"/>
              </a:rPr>
              <a:t>OF</a:t>
            </a:r>
            <a:r>
              <a:rPr sz="2400" b="1" spc="-55" dirty="0">
                <a:latin typeface="Times New Roman"/>
                <a:cs typeface="Times New Roman"/>
              </a:rPr>
              <a:t> </a:t>
            </a:r>
            <a:r>
              <a:rPr sz="2400" b="1" dirty="0">
                <a:latin typeface="Times New Roman"/>
                <a:cs typeface="Times New Roman"/>
              </a:rPr>
              <a:t>COMPUTER</a:t>
            </a:r>
            <a:r>
              <a:rPr sz="2400" b="1" spc="-60" dirty="0">
                <a:latin typeface="Times New Roman"/>
                <a:cs typeface="Times New Roman"/>
              </a:rPr>
              <a:t> </a:t>
            </a:r>
            <a:r>
              <a:rPr sz="2400" b="1" spc="-10" dirty="0">
                <a:latin typeface="Times New Roman"/>
                <a:cs typeface="Times New Roman"/>
              </a:rPr>
              <a:t>SCIENCE</a:t>
            </a:r>
            <a:r>
              <a:rPr lang="en-IN" sz="2400" b="1" spc="-10" dirty="0">
                <a:latin typeface="Times New Roman"/>
                <a:cs typeface="Times New Roman"/>
              </a:rPr>
              <a:t> </a:t>
            </a:r>
            <a:r>
              <a:rPr sz="2400" b="1" spc="-25" dirty="0">
                <a:latin typeface="Times New Roman"/>
                <a:cs typeface="Times New Roman"/>
              </a:rPr>
              <a:t>AND</a:t>
            </a:r>
            <a:r>
              <a:rPr lang="en-IN" sz="2400" b="1" spc="-25" dirty="0">
                <a:latin typeface="Times New Roman"/>
                <a:cs typeface="Times New Roman"/>
              </a:rPr>
              <a:t> </a:t>
            </a:r>
            <a:r>
              <a:rPr sz="2400" b="1" spc="-10" dirty="0">
                <a:latin typeface="Times New Roman"/>
                <a:cs typeface="Times New Roman"/>
              </a:rPr>
              <a:t>ENGINEERING</a:t>
            </a:r>
            <a:endParaRPr lang="en-IN" sz="2400" b="1" spc="-10" dirty="0">
              <a:latin typeface="Times New Roman"/>
              <a:cs typeface="Times New Roman"/>
            </a:endParaRPr>
          </a:p>
          <a:p>
            <a:pPr marL="12065" marR="5080" algn="ctr">
              <a:lnSpc>
                <a:spcPct val="100000"/>
              </a:lnSpc>
              <a:spcBef>
                <a:spcPts val="100"/>
              </a:spcBef>
              <a:tabLst>
                <a:tab pos="6111240" algn="l"/>
              </a:tabLst>
            </a:pPr>
            <a:endParaRPr lang="en-IN" sz="2400" b="1" spc="-10" dirty="0">
              <a:latin typeface="Times New Roman"/>
              <a:cs typeface="Times New Roman"/>
            </a:endParaRPr>
          </a:p>
          <a:p>
            <a:pPr marL="12065" marR="5080" algn="ctr">
              <a:lnSpc>
                <a:spcPct val="100000"/>
              </a:lnSpc>
              <a:spcBef>
                <a:spcPts val="100"/>
              </a:spcBef>
              <a:tabLst>
                <a:tab pos="6111240" algn="l"/>
              </a:tabLst>
            </a:pPr>
            <a:r>
              <a:rPr lang="en-IN" sz="2400" b="1" spc="-10" dirty="0">
                <a:latin typeface="Times New Roman"/>
                <a:cs typeface="Times New Roman"/>
              </a:rPr>
              <a:t>CROWD SOURCED CIVIC ISSUE REPORTING AND RESOLUTION SYSTEM</a:t>
            </a:r>
          </a:p>
          <a:p>
            <a:pPr marL="134620" marR="125730" algn="ctr">
              <a:lnSpc>
                <a:spcPct val="159200"/>
              </a:lnSpc>
              <a:spcBef>
                <a:spcPts val="70"/>
              </a:spcBef>
            </a:pPr>
            <a:r>
              <a:rPr sz="2400" b="1" dirty="0">
                <a:latin typeface="Times New Roman"/>
                <a:cs typeface="Times New Roman"/>
              </a:rPr>
              <a:t>DOMAIN</a:t>
            </a:r>
            <a:r>
              <a:rPr sz="2400" b="1" spc="-80" dirty="0">
                <a:latin typeface="Times New Roman"/>
                <a:cs typeface="Times New Roman"/>
              </a:rPr>
              <a:t> </a:t>
            </a:r>
            <a:r>
              <a:rPr sz="2400" b="1" dirty="0">
                <a:latin typeface="Times New Roman"/>
                <a:cs typeface="Times New Roman"/>
              </a:rPr>
              <a:t>:</a:t>
            </a:r>
            <a:r>
              <a:rPr sz="2400" b="1" spc="-75" dirty="0">
                <a:latin typeface="Times New Roman"/>
                <a:cs typeface="Times New Roman"/>
              </a:rPr>
              <a:t> </a:t>
            </a:r>
            <a:r>
              <a:rPr lang="en-IN" sz="2400" b="1" spc="-75" dirty="0">
                <a:latin typeface="Times New Roman"/>
                <a:cs typeface="Times New Roman"/>
              </a:rPr>
              <a:t>FULL STACK DEVELOPMENT</a:t>
            </a:r>
            <a:endParaRPr lang="en-IN" sz="2400" spc="-10" dirty="0">
              <a:latin typeface="Times New Roman"/>
              <a:cs typeface="Times New Roman"/>
            </a:endParaRPr>
          </a:p>
          <a:p>
            <a:pPr marL="134620" marR="125730" algn="ctr">
              <a:lnSpc>
                <a:spcPct val="159200"/>
              </a:lnSpc>
              <a:spcBef>
                <a:spcPts val="70"/>
              </a:spcBef>
            </a:pPr>
            <a:r>
              <a:rPr sz="2400" b="1" dirty="0">
                <a:latin typeface="Times New Roman"/>
                <a:cs typeface="Times New Roman"/>
              </a:rPr>
              <a:t>BATCH</a:t>
            </a:r>
            <a:r>
              <a:rPr sz="2400" b="1" spc="-45" dirty="0">
                <a:latin typeface="Times New Roman"/>
                <a:cs typeface="Times New Roman"/>
              </a:rPr>
              <a:t> </a:t>
            </a:r>
            <a:r>
              <a:rPr sz="2400" b="1" dirty="0">
                <a:latin typeface="Times New Roman"/>
                <a:cs typeface="Times New Roman"/>
              </a:rPr>
              <a:t>NO</a:t>
            </a:r>
            <a:r>
              <a:rPr sz="2400" b="1" spc="-45" dirty="0">
                <a:latin typeface="Times New Roman"/>
                <a:cs typeface="Times New Roman"/>
              </a:rPr>
              <a:t> </a:t>
            </a:r>
            <a:r>
              <a:rPr sz="2400" b="1" dirty="0">
                <a:latin typeface="Times New Roman"/>
                <a:cs typeface="Times New Roman"/>
              </a:rPr>
              <a:t>:</a:t>
            </a:r>
            <a:r>
              <a:rPr sz="2400" b="1" spc="-40" dirty="0">
                <a:latin typeface="Times New Roman"/>
                <a:cs typeface="Times New Roman"/>
              </a:rPr>
              <a:t> </a:t>
            </a:r>
            <a:r>
              <a:rPr sz="2400" b="1" spc="-25" dirty="0">
                <a:latin typeface="Times New Roman"/>
                <a:cs typeface="Times New Roman"/>
              </a:rPr>
              <a:t>0</a:t>
            </a:r>
            <a:r>
              <a:rPr lang="en-IN" sz="2400" b="1" spc="-25" dirty="0">
                <a:latin typeface="Times New Roman"/>
                <a:cs typeface="Times New Roman"/>
              </a:rPr>
              <a:t>5</a:t>
            </a:r>
            <a:endParaRPr sz="2400" dirty="0">
              <a:latin typeface="Times New Roman"/>
              <a:cs typeface="Times New Roman"/>
            </a:endParaRPr>
          </a:p>
        </p:txBody>
      </p:sp>
      <p:pic>
        <p:nvPicPr>
          <p:cNvPr id="7" name="object 7"/>
          <p:cNvPicPr/>
          <p:nvPr/>
        </p:nvPicPr>
        <p:blipFill>
          <a:blip r:embed="rId3" cstate="print"/>
          <a:stretch>
            <a:fillRect/>
          </a:stretch>
        </p:blipFill>
        <p:spPr>
          <a:xfrm>
            <a:off x="424369" y="170973"/>
            <a:ext cx="1104899" cy="1028699"/>
          </a:xfrm>
          <a:prstGeom prst="rect">
            <a:avLst/>
          </a:prstGeom>
        </p:spPr>
      </p:pic>
      <p:sp>
        <p:nvSpPr>
          <p:cNvPr id="8" name="object 8"/>
          <p:cNvSpPr txBox="1">
            <a:spLocks noGrp="1"/>
          </p:cNvSpPr>
          <p:nvPr>
            <p:ph type="title"/>
          </p:nvPr>
        </p:nvSpPr>
        <p:spPr>
          <a:xfrm>
            <a:off x="1371600" y="294162"/>
            <a:ext cx="8918639" cy="751488"/>
          </a:xfrm>
          <a:prstGeom prst="rect">
            <a:avLst/>
          </a:prstGeom>
        </p:spPr>
        <p:txBody>
          <a:bodyPr vert="horz" wrap="square" lIns="0" tIns="12700" rIns="0" bIns="0" rtlCol="0">
            <a:spAutoFit/>
          </a:bodyPr>
          <a:lstStyle/>
          <a:p>
            <a:pPr marL="12700" algn="ctr">
              <a:spcBef>
                <a:spcPts val="100"/>
              </a:spcBef>
            </a:pPr>
            <a:r>
              <a:rPr sz="2400" b="1" spc="-20" dirty="0">
                <a:solidFill>
                  <a:srgbClr val="006EC0"/>
                </a:solidFill>
                <a:latin typeface="Times New Roman"/>
                <a:cs typeface="Times New Roman"/>
              </a:rPr>
              <a:t>VIVEKANANDHA</a:t>
            </a:r>
            <a:r>
              <a:rPr sz="2400" b="1" spc="-50" dirty="0">
                <a:solidFill>
                  <a:srgbClr val="006EC0"/>
                </a:solidFill>
                <a:latin typeface="Times New Roman"/>
                <a:cs typeface="Times New Roman"/>
              </a:rPr>
              <a:t> </a:t>
            </a:r>
            <a:r>
              <a:rPr sz="2400" b="1" dirty="0">
                <a:solidFill>
                  <a:srgbClr val="006EC0"/>
                </a:solidFill>
                <a:latin typeface="Times New Roman"/>
                <a:cs typeface="Times New Roman"/>
              </a:rPr>
              <a:t>COLLEGE</a:t>
            </a:r>
            <a:r>
              <a:rPr sz="2400" b="1" spc="-45" dirty="0">
                <a:solidFill>
                  <a:srgbClr val="006EC0"/>
                </a:solidFill>
                <a:latin typeface="Times New Roman"/>
                <a:cs typeface="Times New Roman"/>
              </a:rPr>
              <a:t> </a:t>
            </a:r>
            <a:r>
              <a:rPr sz="2400" b="1" dirty="0">
                <a:solidFill>
                  <a:srgbClr val="006EC0"/>
                </a:solidFill>
                <a:latin typeface="Times New Roman"/>
                <a:cs typeface="Times New Roman"/>
              </a:rPr>
              <a:t>OF</a:t>
            </a:r>
            <a:r>
              <a:rPr sz="2400" b="1" spc="-45" dirty="0">
                <a:solidFill>
                  <a:srgbClr val="006EC0"/>
                </a:solidFill>
                <a:latin typeface="Times New Roman"/>
                <a:cs typeface="Times New Roman"/>
              </a:rPr>
              <a:t> </a:t>
            </a:r>
            <a:r>
              <a:rPr sz="2400" b="1" spc="-10" dirty="0">
                <a:solidFill>
                  <a:srgbClr val="006EC0"/>
                </a:solidFill>
                <a:latin typeface="Times New Roman"/>
                <a:cs typeface="Times New Roman"/>
              </a:rPr>
              <a:t>ENGINEERING</a:t>
            </a:r>
            <a:r>
              <a:rPr sz="2400" b="1" spc="-50" dirty="0">
                <a:solidFill>
                  <a:srgbClr val="006EC0"/>
                </a:solidFill>
                <a:latin typeface="Times New Roman"/>
                <a:cs typeface="Times New Roman"/>
              </a:rPr>
              <a:t> </a:t>
            </a:r>
            <a:r>
              <a:rPr sz="2400" b="1" spc="-25" dirty="0">
                <a:solidFill>
                  <a:srgbClr val="006EC0"/>
                </a:solidFill>
                <a:latin typeface="Times New Roman"/>
                <a:cs typeface="Times New Roman"/>
              </a:rPr>
              <a:t>FOR</a:t>
            </a:r>
            <a:r>
              <a:rPr lang="en-IN" sz="2400" b="1" spc="-25" dirty="0">
                <a:solidFill>
                  <a:srgbClr val="006EC0"/>
                </a:solidFill>
                <a:latin typeface="Times New Roman"/>
                <a:cs typeface="Times New Roman"/>
              </a:rPr>
              <a:t> </a:t>
            </a:r>
            <a:r>
              <a:rPr lang="en-IN" sz="2400" b="1" spc="-10" dirty="0">
                <a:solidFill>
                  <a:srgbClr val="006EC0"/>
                </a:solidFill>
              </a:rPr>
              <a:t>WOMEN</a:t>
            </a:r>
            <a:br>
              <a:rPr lang="en-IN" sz="2400" dirty="0"/>
            </a:br>
            <a:endParaRPr sz="2400" dirty="0">
              <a:latin typeface="Times New Roman"/>
              <a:cs typeface="Times New Roman"/>
            </a:endParaRPr>
          </a:p>
        </p:txBody>
      </p:sp>
      <p:graphicFrame>
        <p:nvGraphicFramePr>
          <p:cNvPr id="11" name="Table 10">
            <a:extLst>
              <a:ext uri="{FF2B5EF4-FFF2-40B4-BE49-F238E27FC236}">
                <a16:creationId xmlns:a16="http://schemas.microsoft.com/office/drawing/2014/main" id="{5F823B4A-EDF5-DB3A-94D0-2BFE163FBB26}"/>
              </a:ext>
            </a:extLst>
          </p:cNvPr>
          <p:cNvGraphicFramePr>
            <a:graphicFrameLocks noGrp="1"/>
          </p:cNvGraphicFramePr>
          <p:nvPr>
            <p:extLst>
              <p:ext uri="{D42A27DB-BD31-4B8C-83A1-F6EECF244321}">
                <p14:modId xmlns:p14="http://schemas.microsoft.com/office/powerpoint/2010/main" val="2889032203"/>
              </p:ext>
            </p:extLst>
          </p:nvPr>
        </p:nvGraphicFramePr>
        <p:xfrm>
          <a:off x="990600" y="5134122"/>
          <a:ext cx="5486400" cy="109728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1293257006"/>
                    </a:ext>
                  </a:extLst>
                </a:gridCol>
                <a:gridCol w="3810000">
                  <a:extLst>
                    <a:ext uri="{9D8B030D-6E8A-4147-A177-3AD203B41FA5}">
                      <a16:colId xmlns:a16="http://schemas.microsoft.com/office/drawing/2014/main" val="699494247"/>
                    </a:ext>
                  </a:extLst>
                </a:gridCol>
              </a:tblGrid>
              <a:tr h="322321">
                <a:tc>
                  <a:txBody>
                    <a:bodyPr/>
                    <a:lstStyle/>
                    <a:p>
                      <a:r>
                        <a:rPr lang="en-IN" dirty="0">
                          <a:latin typeface="Times New Roman" panose="02020603050405020304" pitchFamily="18" charset="0"/>
                          <a:cs typeface="Times New Roman" panose="02020603050405020304" pitchFamily="18" charset="0"/>
                        </a:rPr>
                        <a:t>NITHYA R</a:t>
                      </a:r>
                    </a:p>
                  </a:txBody>
                  <a:tcPr/>
                </a:tc>
                <a:tc>
                  <a:txBody>
                    <a:bodyPr/>
                    <a:lstStyle/>
                    <a:p>
                      <a:r>
                        <a:rPr lang="en-IN" dirty="0">
                          <a:latin typeface="Times New Roman" panose="02020603050405020304" pitchFamily="18" charset="0"/>
                          <a:cs typeface="Times New Roman" panose="02020603050405020304" pitchFamily="18" charset="0"/>
                        </a:rPr>
                        <a:t>- IV/CSE B (612922101072) </a:t>
                      </a:r>
                    </a:p>
                  </a:txBody>
                  <a:tcPr/>
                </a:tc>
                <a:extLst>
                  <a:ext uri="{0D108BD9-81ED-4DB2-BD59-A6C34878D82A}">
                    <a16:rowId xmlns:a16="http://schemas.microsoft.com/office/drawing/2014/main" val="2033754806"/>
                  </a:ext>
                </a:extLst>
              </a:tr>
              <a:tr h="335803">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SUBASRI M</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 IV/CSE B (612922101116) </a:t>
                      </a:r>
                    </a:p>
                  </a:txBody>
                  <a:tcPr/>
                </a:tc>
                <a:extLst>
                  <a:ext uri="{0D108BD9-81ED-4DB2-BD59-A6C34878D82A}">
                    <a16:rowId xmlns:a16="http://schemas.microsoft.com/office/drawing/2014/main" val="2281938443"/>
                  </a:ext>
                </a:extLst>
              </a:tr>
              <a:tr h="335803">
                <a:tc>
                  <a:txBody>
                    <a:bodyPr/>
                    <a:lstStyle/>
                    <a:p>
                      <a:r>
                        <a:rPr lang="en-IN" dirty="0">
                          <a:latin typeface="Times New Roman" panose="02020603050405020304" pitchFamily="18" charset="0"/>
                          <a:cs typeface="Times New Roman" panose="02020603050405020304" pitchFamily="18" charset="0"/>
                        </a:rPr>
                        <a:t>SUPRITHA R</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 IV/CSE B (612922101119) </a:t>
                      </a:r>
                    </a:p>
                  </a:txBody>
                  <a:tcPr/>
                </a:tc>
                <a:extLst>
                  <a:ext uri="{0D108BD9-81ED-4DB2-BD59-A6C34878D82A}">
                    <a16:rowId xmlns:a16="http://schemas.microsoft.com/office/drawing/2014/main" val="2411528402"/>
                  </a:ext>
                </a:extLst>
              </a:tr>
            </a:tbl>
          </a:graphicData>
        </a:graphic>
      </p:graphicFrame>
      <p:graphicFrame>
        <p:nvGraphicFramePr>
          <p:cNvPr id="13" name="Table 12">
            <a:extLst>
              <a:ext uri="{FF2B5EF4-FFF2-40B4-BE49-F238E27FC236}">
                <a16:creationId xmlns:a16="http://schemas.microsoft.com/office/drawing/2014/main" id="{3FB4AD8A-8888-4795-6584-73A1BFEAA8A5}"/>
              </a:ext>
            </a:extLst>
          </p:cNvPr>
          <p:cNvGraphicFramePr>
            <a:graphicFrameLocks noGrp="1"/>
          </p:cNvGraphicFramePr>
          <p:nvPr>
            <p:extLst>
              <p:ext uri="{D42A27DB-BD31-4B8C-83A1-F6EECF244321}">
                <p14:modId xmlns:p14="http://schemas.microsoft.com/office/powerpoint/2010/main" val="2355040642"/>
              </p:ext>
            </p:extLst>
          </p:nvPr>
        </p:nvGraphicFramePr>
        <p:xfrm>
          <a:off x="501180" y="4609167"/>
          <a:ext cx="5054600" cy="391161"/>
        </p:xfrm>
        <a:graphic>
          <a:graphicData uri="http://schemas.openxmlformats.org/drawingml/2006/table">
            <a:tbl>
              <a:tblPr firstRow="1" bandRow="1">
                <a:tableStyleId>{2D5ABB26-0587-4C30-8999-92F81FD0307C}</a:tableStyleId>
              </a:tblPr>
              <a:tblGrid>
                <a:gridCol w="5054600">
                  <a:extLst>
                    <a:ext uri="{9D8B030D-6E8A-4147-A177-3AD203B41FA5}">
                      <a16:colId xmlns:a16="http://schemas.microsoft.com/office/drawing/2014/main" val="575241107"/>
                    </a:ext>
                  </a:extLst>
                </a:gridCol>
              </a:tblGrid>
              <a:tr h="391161">
                <a:tc>
                  <a:txBody>
                    <a:bodyPr/>
                    <a:lstStyle/>
                    <a:p>
                      <a:pPr algn="ctr"/>
                      <a:r>
                        <a:rPr lang="en-IN" dirty="0">
                          <a:latin typeface="Times New Roman" panose="02020603050405020304" pitchFamily="18" charset="0"/>
                          <a:cs typeface="Times New Roman" panose="02020603050405020304" pitchFamily="18" charset="0"/>
                        </a:rPr>
                        <a:t>    TEAM MEMBERS:</a:t>
                      </a:r>
                    </a:p>
                  </a:txBody>
                  <a:tcPr/>
                </a:tc>
                <a:extLst>
                  <a:ext uri="{0D108BD9-81ED-4DB2-BD59-A6C34878D82A}">
                    <a16:rowId xmlns:a16="http://schemas.microsoft.com/office/drawing/2014/main" val="132480254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48200" y="513968"/>
            <a:ext cx="2392045" cy="443711"/>
          </a:xfrm>
          <a:prstGeom prst="rect">
            <a:avLst/>
          </a:prstGeom>
        </p:spPr>
        <p:txBody>
          <a:bodyPr vert="horz" wrap="square" lIns="0" tIns="12700" rIns="0" bIns="0" rtlCol="0">
            <a:spAutoFit/>
          </a:bodyPr>
          <a:lstStyle/>
          <a:p>
            <a:pPr marL="12700">
              <a:lnSpc>
                <a:spcPct val="100000"/>
              </a:lnSpc>
              <a:spcBef>
                <a:spcPts val="100"/>
              </a:spcBef>
            </a:pPr>
            <a:r>
              <a:rPr sz="2800" b="1" spc="-10" dirty="0">
                <a:latin typeface="Times New Roman"/>
                <a:cs typeface="Times New Roman"/>
              </a:rPr>
              <a:t>A</a:t>
            </a:r>
            <a:r>
              <a:rPr lang="en-IN" sz="2800" b="1" spc="-10" dirty="0">
                <a:latin typeface="Times New Roman"/>
                <a:cs typeface="Times New Roman"/>
              </a:rPr>
              <a:t>BSTRACT</a:t>
            </a:r>
            <a:endParaRPr sz="2800" dirty="0">
              <a:latin typeface="Times New Roman"/>
              <a:cs typeface="Times New Roman"/>
            </a:endParaRPr>
          </a:p>
        </p:txBody>
      </p:sp>
      <p:sp>
        <p:nvSpPr>
          <p:cNvPr id="4" name="object 3">
            <a:extLst>
              <a:ext uri="{FF2B5EF4-FFF2-40B4-BE49-F238E27FC236}">
                <a16:creationId xmlns:a16="http://schemas.microsoft.com/office/drawing/2014/main" id="{346547CC-C329-F88B-7E0D-40CE298D2F3A}"/>
              </a:ext>
            </a:extLst>
          </p:cNvPr>
          <p:cNvSpPr txBox="1">
            <a:spLocks noGrp="1"/>
          </p:cNvSpPr>
          <p:nvPr>
            <p:ph type="body" idx="1"/>
          </p:nvPr>
        </p:nvSpPr>
        <p:spPr>
          <a:xfrm>
            <a:off x="1066800" y="1219200"/>
            <a:ext cx="10287000" cy="4574137"/>
          </a:xfrm>
          <a:prstGeom prst="rect">
            <a:avLst/>
          </a:prstGeom>
        </p:spPr>
        <p:txBody>
          <a:bodyPr vert="horz" wrap="square" lIns="0" tIns="12700" rIns="0" bIns="0" rtlCol="0">
            <a:spAutoFit/>
          </a:bodyPr>
          <a:lstStyle/>
          <a:p>
            <a:pPr marL="12700" marR="5080" indent="902335" algn="just">
              <a:lnSpc>
                <a:spcPct val="150000"/>
              </a:lnSpc>
              <a:spcBef>
                <a:spcPts val="100"/>
              </a:spcBef>
            </a:pPr>
            <a:r>
              <a:rPr lang="en-US" sz="2000" spc="-10" dirty="0"/>
              <a:t>The Crowdsourced Civic Issue Reporting and Resolution System is a mobile-first digital platform designed to bridge the gap between citizens and local authorities by enabling real-time reporting of civic issues such as potholes, damaged streetlights, waste overflow, and sanitation problems. Citizens can easily submit reports with photos, GPS-based location details, and brief descriptions, which are displayed on a centralized, interactive dashboard for municipal officials. The system automatically categorizes, prioritizes, and routes complaints to the appropriate departments, ensuring faster response and improved accountability. Citizens can track the status of their reports and receive notifications at every stage of resolution. Supported by a scalable backend and analytics-driven insights, the platform enhances operational efficiency, promotes transparent governance, and contributes to cleaner and greener cities in alignment with the Clean &amp; Green Technology theme.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81EAB-5D48-9184-1929-220E380E597F}"/>
              </a:ext>
            </a:extLst>
          </p:cNvPr>
          <p:cNvSpPr>
            <a:spLocks noGrp="1"/>
          </p:cNvSpPr>
          <p:nvPr>
            <p:ph type="ctrTitle"/>
          </p:nvPr>
        </p:nvSpPr>
        <p:spPr>
          <a:xfrm>
            <a:off x="914400" y="228601"/>
            <a:ext cx="10363200" cy="492443"/>
          </a:xfrm>
        </p:spPr>
        <p:txBody>
          <a:bodyPr/>
          <a:lstStyle/>
          <a:p>
            <a:r>
              <a:rPr lang="en-US" sz="3200" b="1" dirty="0"/>
              <a:t>                                INTRODUCTION</a:t>
            </a:r>
            <a:endParaRPr lang="en-IN" sz="3200" b="1" dirty="0"/>
          </a:p>
        </p:txBody>
      </p:sp>
      <p:sp>
        <p:nvSpPr>
          <p:cNvPr id="3" name="Subtitle 2">
            <a:extLst>
              <a:ext uri="{FF2B5EF4-FFF2-40B4-BE49-F238E27FC236}">
                <a16:creationId xmlns:a16="http://schemas.microsoft.com/office/drawing/2014/main" id="{917555B4-3F6C-6AC1-109B-A96D6E6CC463}"/>
              </a:ext>
            </a:extLst>
          </p:cNvPr>
          <p:cNvSpPr>
            <a:spLocks noGrp="1"/>
          </p:cNvSpPr>
          <p:nvPr>
            <p:ph type="subTitle" idx="4"/>
          </p:nvPr>
        </p:nvSpPr>
        <p:spPr>
          <a:xfrm>
            <a:off x="914400" y="1066800"/>
            <a:ext cx="10363200" cy="4561313"/>
          </a:xfrm>
        </p:spPr>
        <p:txBody>
          <a:bodyPr/>
          <a:lstStyle/>
          <a:p>
            <a:pPr algn="just">
              <a:lnSpc>
                <a:spcPct val="150000"/>
              </a:lnSpc>
            </a:pPr>
            <a:r>
              <a:rPr lang="en-US" sz="2000" dirty="0"/>
              <a:t>           Rapid urbanization has increased the number of civic issues such as road damage, improper waste management, drainage blockage, and malfunctioning public infrastructure in cities. Traditional complaint systems mainly rely on manual reporting methods, phone calls, or physical visits to municipal offices, which often result in delays, lack of transparency, and inefficient issue tracking. To overcome these challenges, digital solutions are required to simplify communication between citizens and government authorities. The proposed Crowdsourced Civic Issue Reporting and Resolution System utilizes modern web technologies to provide an easy and efficient platform where citizens can actively participate in reporting local problems, enabling authorities to monitor, prioritize, and resolve issues systematically for improved urban management.</a:t>
            </a:r>
            <a:endParaRPr lang="en-IN" sz="2000" dirty="0"/>
          </a:p>
        </p:txBody>
      </p:sp>
    </p:spTree>
    <p:extLst>
      <p:ext uri="{BB962C8B-B14F-4D97-AF65-F5344CB8AC3E}">
        <p14:creationId xmlns:p14="http://schemas.microsoft.com/office/powerpoint/2010/main" val="1569452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6139-9E4B-EF7D-7EB4-EB5CB67CF749}"/>
              </a:ext>
            </a:extLst>
          </p:cNvPr>
          <p:cNvSpPr>
            <a:spLocks noGrp="1"/>
          </p:cNvSpPr>
          <p:nvPr>
            <p:ph type="ctrTitle"/>
          </p:nvPr>
        </p:nvSpPr>
        <p:spPr>
          <a:xfrm>
            <a:off x="914400" y="685800"/>
            <a:ext cx="10363200" cy="685800"/>
          </a:xfrm>
        </p:spPr>
        <p:txBody>
          <a:bodyPr/>
          <a:lstStyle/>
          <a:p>
            <a:r>
              <a:rPr lang="en-US" sz="3200" b="1" dirty="0"/>
              <a:t>                                EXISTING SYSTEM</a:t>
            </a:r>
            <a:endParaRPr lang="en-IN" sz="3200" b="1" dirty="0"/>
          </a:p>
        </p:txBody>
      </p:sp>
      <p:sp>
        <p:nvSpPr>
          <p:cNvPr id="3" name="Subtitle 2">
            <a:extLst>
              <a:ext uri="{FF2B5EF4-FFF2-40B4-BE49-F238E27FC236}">
                <a16:creationId xmlns:a16="http://schemas.microsoft.com/office/drawing/2014/main" id="{82EE3F32-93BB-F620-01F0-8AE814A4E138}"/>
              </a:ext>
            </a:extLst>
          </p:cNvPr>
          <p:cNvSpPr>
            <a:spLocks noGrp="1"/>
          </p:cNvSpPr>
          <p:nvPr>
            <p:ph type="subTitle" idx="4"/>
          </p:nvPr>
        </p:nvSpPr>
        <p:spPr>
          <a:xfrm>
            <a:off x="914400" y="1371600"/>
            <a:ext cx="10896600" cy="4572000"/>
          </a:xfrm>
        </p:spPr>
        <p:txBody>
          <a:bodyPr/>
          <a:lstStyle/>
          <a:p>
            <a:pPr marL="342900" indent="-342900">
              <a:lnSpc>
                <a:spcPct val="200000"/>
              </a:lnSpc>
              <a:buFont typeface="Arial" panose="020B0604020202020204" pitchFamily="34" charset="0"/>
              <a:buChar char="•"/>
            </a:pPr>
            <a:r>
              <a:rPr lang="en-US" sz="2000" dirty="0"/>
              <a:t>Civic issues are reported manually through phone calls, ward offices, or paper complaints</a:t>
            </a:r>
          </a:p>
          <a:p>
            <a:pPr marL="342900" indent="-342900">
              <a:lnSpc>
                <a:spcPct val="200000"/>
              </a:lnSpc>
              <a:buFont typeface="Arial" panose="020B0604020202020204" pitchFamily="34" charset="0"/>
              <a:buChar char="•"/>
            </a:pPr>
            <a:r>
              <a:rPr lang="en-US" sz="2000" dirty="0"/>
              <a:t>No centralized digital platform to track complaints</a:t>
            </a:r>
          </a:p>
          <a:p>
            <a:pPr marL="342900" indent="-342900">
              <a:lnSpc>
                <a:spcPct val="200000"/>
              </a:lnSpc>
              <a:buFont typeface="Arial" panose="020B0604020202020204" pitchFamily="34" charset="0"/>
              <a:buChar char="•"/>
            </a:pPr>
            <a:r>
              <a:rPr lang="en-US" sz="2000" dirty="0"/>
              <a:t>Citizens cannot upload photos or live locations</a:t>
            </a:r>
          </a:p>
          <a:p>
            <a:pPr marL="342900" indent="-342900">
              <a:lnSpc>
                <a:spcPct val="200000"/>
              </a:lnSpc>
              <a:buFont typeface="Arial" panose="020B0604020202020204" pitchFamily="34" charset="0"/>
              <a:buChar char="•"/>
            </a:pPr>
            <a:r>
              <a:rPr lang="en-US" sz="2000" dirty="0"/>
              <a:t>Complaints are often delayed, lost, or duplicated</a:t>
            </a:r>
          </a:p>
          <a:p>
            <a:pPr marL="342900" indent="-342900">
              <a:lnSpc>
                <a:spcPct val="200000"/>
              </a:lnSpc>
              <a:buFont typeface="Arial" panose="020B0604020202020204" pitchFamily="34" charset="0"/>
              <a:buChar char="•"/>
            </a:pPr>
            <a:r>
              <a:rPr lang="en-US" sz="2000" dirty="0"/>
              <a:t>No real-time status tracking for citizens</a:t>
            </a:r>
          </a:p>
          <a:p>
            <a:pPr marL="342900" indent="-342900">
              <a:lnSpc>
                <a:spcPct val="200000"/>
              </a:lnSpc>
              <a:buFont typeface="Arial" panose="020B0604020202020204" pitchFamily="34" charset="0"/>
              <a:buChar char="•"/>
            </a:pPr>
            <a:r>
              <a:rPr lang="en-US" sz="2000" dirty="0"/>
              <a:t>Municipal staff rely on manual sorting and forwarding</a:t>
            </a:r>
            <a:endParaRPr lang="en-IN" sz="2000" dirty="0"/>
          </a:p>
        </p:txBody>
      </p:sp>
    </p:spTree>
    <p:extLst>
      <p:ext uri="{BB962C8B-B14F-4D97-AF65-F5344CB8AC3E}">
        <p14:creationId xmlns:p14="http://schemas.microsoft.com/office/powerpoint/2010/main" val="3079601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EC8F2-287C-4715-7CAD-13B519B0D28F}"/>
              </a:ext>
            </a:extLst>
          </p:cNvPr>
          <p:cNvSpPr>
            <a:spLocks noGrp="1"/>
          </p:cNvSpPr>
          <p:nvPr>
            <p:ph type="ctrTitle"/>
          </p:nvPr>
        </p:nvSpPr>
        <p:spPr>
          <a:xfrm>
            <a:off x="914400" y="381001"/>
            <a:ext cx="10363200" cy="492443"/>
          </a:xfrm>
        </p:spPr>
        <p:txBody>
          <a:bodyPr/>
          <a:lstStyle/>
          <a:p>
            <a:r>
              <a:rPr lang="en-US" sz="3200" b="1" dirty="0"/>
              <a:t>                               PROPOSED SYSTEM</a:t>
            </a:r>
            <a:endParaRPr lang="en-IN" sz="3200" b="1" dirty="0"/>
          </a:p>
        </p:txBody>
      </p:sp>
      <p:sp>
        <p:nvSpPr>
          <p:cNvPr id="3" name="Subtitle 2">
            <a:extLst>
              <a:ext uri="{FF2B5EF4-FFF2-40B4-BE49-F238E27FC236}">
                <a16:creationId xmlns:a16="http://schemas.microsoft.com/office/drawing/2014/main" id="{C501E069-EC70-BA05-16AF-108D97153AC9}"/>
              </a:ext>
            </a:extLst>
          </p:cNvPr>
          <p:cNvSpPr>
            <a:spLocks noGrp="1"/>
          </p:cNvSpPr>
          <p:nvPr>
            <p:ph type="subTitle" idx="4"/>
          </p:nvPr>
        </p:nvSpPr>
        <p:spPr>
          <a:xfrm>
            <a:off x="914400" y="1066800"/>
            <a:ext cx="10363200" cy="4561313"/>
          </a:xfrm>
        </p:spPr>
        <p:txBody>
          <a:bodyPr/>
          <a:lstStyle/>
          <a:p>
            <a:pPr algn="just">
              <a:lnSpc>
                <a:spcPct val="150000"/>
              </a:lnSpc>
            </a:pPr>
            <a:r>
              <a:rPr lang="en-US" sz="2000" dirty="0"/>
              <a:t>         The proposed system introduces a smart and centralized digital platform that enables citizens to report civic issues in real time by uploading images, location details, and problem descriptions through a web or mobile interface. All reported issues are displayed on an interactive city map dashboard, allowing authorities to easily identify problem locations. The system automatically routes complaints to the appropriate municipal department, reducing manual work and response delays. An admin dashboard is provided to filter, prioritize, and update the status of complaints efficiently. Citizens can track the live status of their reported issues and receive notifications regarding progress and resolution. This system enhances transparency, improves service efficiency, and encourages active public participation in city management.</a:t>
            </a:r>
          </a:p>
        </p:txBody>
      </p:sp>
    </p:spTree>
    <p:extLst>
      <p:ext uri="{BB962C8B-B14F-4D97-AF65-F5344CB8AC3E}">
        <p14:creationId xmlns:p14="http://schemas.microsoft.com/office/powerpoint/2010/main" val="7260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D83D-F7A8-7C7C-A9B1-7B676D8812BD}"/>
              </a:ext>
            </a:extLst>
          </p:cNvPr>
          <p:cNvSpPr>
            <a:spLocks noGrp="1"/>
          </p:cNvSpPr>
          <p:nvPr>
            <p:ph type="title"/>
          </p:nvPr>
        </p:nvSpPr>
        <p:spPr>
          <a:xfrm>
            <a:off x="3200399" y="457200"/>
            <a:ext cx="5562600" cy="492443"/>
          </a:xfrm>
        </p:spPr>
        <p:txBody>
          <a:bodyPr/>
          <a:lstStyle/>
          <a:p>
            <a:r>
              <a:rPr lang="en-US" sz="3200" b="1" dirty="0"/>
              <a:t>LITERATURE SURVEY</a:t>
            </a:r>
            <a:endParaRPr lang="en-IN" sz="3200" b="1" dirty="0"/>
          </a:p>
        </p:txBody>
      </p:sp>
      <p:sp>
        <p:nvSpPr>
          <p:cNvPr id="3" name="Text Placeholder 2">
            <a:extLst>
              <a:ext uri="{FF2B5EF4-FFF2-40B4-BE49-F238E27FC236}">
                <a16:creationId xmlns:a16="http://schemas.microsoft.com/office/drawing/2014/main" id="{E12E73BA-E513-C18E-3BEB-CBA0A4BCA078}"/>
              </a:ext>
            </a:extLst>
          </p:cNvPr>
          <p:cNvSpPr>
            <a:spLocks noGrp="1"/>
          </p:cNvSpPr>
          <p:nvPr>
            <p:ph type="body" idx="1"/>
          </p:nvPr>
        </p:nvSpPr>
        <p:spPr>
          <a:xfrm>
            <a:off x="976947" y="1219200"/>
            <a:ext cx="10009505" cy="5293757"/>
          </a:xfrm>
        </p:spPr>
        <p:txBody>
          <a:bodyPr/>
          <a:lstStyle/>
          <a:p>
            <a:pPr marL="342900" indent="-342900">
              <a:buFont typeface="Arial" panose="020B0604020202020204" pitchFamily="34" charset="0"/>
              <a:buChar char="•"/>
            </a:pPr>
            <a:r>
              <a:rPr lang="en-IN" sz="2000" dirty="0"/>
              <a:t>Hashem et al. (2018) – “The Role of Big Data in Smart City Development”</a:t>
            </a:r>
          </a:p>
          <a:p>
            <a:r>
              <a:rPr lang="en-IN" sz="2000" dirty="0"/>
              <a:t>     Discussed the use of cloud and big data technologies for efficient urban service management.</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err="1"/>
              <a:t>Ismagilova</a:t>
            </a:r>
            <a:r>
              <a:rPr lang="en-IN" sz="2000" dirty="0"/>
              <a:t> et al. (2019) – “Smart Cities: Advances in Research—An Information Systems Perspective”</a:t>
            </a:r>
          </a:p>
          <a:p>
            <a:r>
              <a:rPr lang="en-IN" sz="2000" dirty="0"/>
              <a:t>     Explained how digital citizen engagement platforms improve governance transparency.</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Alam &amp; Noor (2020) – “ICT-Based Civic Engagement Framework for Smart Cities”</a:t>
            </a:r>
          </a:p>
          <a:p>
            <a:r>
              <a:rPr lang="en-IN" sz="2000" dirty="0"/>
              <a:t>      Proposed mobile applications for citizen participation in reporting civic issues.</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Kumar et al. (2020) – “Location-Based Complaint Management System Using GPS Technology”</a:t>
            </a:r>
          </a:p>
          <a:p>
            <a:r>
              <a:rPr lang="en-IN" sz="2000" dirty="0"/>
              <a:t>      Introduced GPS-enabled systems for accurate civic issue identification.</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Sharma &amp; Gupta (2021) – “Online Grievance Redressal System for Smart Governance”</a:t>
            </a:r>
          </a:p>
          <a:p>
            <a:r>
              <a:rPr lang="en-IN" sz="2000" dirty="0"/>
              <a:t>     Developed digital complaint systems to reduce manual processing delays.</a:t>
            </a:r>
          </a:p>
          <a:p>
            <a:endParaRPr lang="en-IN" dirty="0"/>
          </a:p>
        </p:txBody>
      </p:sp>
    </p:spTree>
    <p:extLst>
      <p:ext uri="{BB962C8B-B14F-4D97-AF65-F5344CB8AC3E}">
        <p14:creationId xmlns:p14="http://schemas.microsoft.com/office/powerpoint/2010/main" val="51150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E95A56A-BBD1-6BC9-C64F-6D55158EB001}"/>
              </a:ext>
            </a:extLst>
          </p:cNvPr>
          <p:cNvSpPr>
            <a:spLocks noGrp="1"/>
          </p:cNvSpPr>
          <p:nvPr>
            <p:ph type="body" idx="1"/>
          </p:nvPr>
        </p:nvSpPr>
        <p:spPr>
          <a:xfrm>
            <a:off x="1143000" y="914400"/>
            <a:ext cx="9704705" cy="4370427"/>
          </a:xfrm>
        </p:spPr>
        <p:txBody>
          <a:bodyPr/>
          <a:lstStyle/>
          <a:p>
            <a:pPr marL="342900" indent="-342900">
              <a:buFont typeface="Arial" panose="020B0604020202020204" pitchFamily="34" charset="0"/>
              <a:buChar char="•"/>
            </a:pPr>
            <a:r>
              <a:rPr lang="en-IN" sz="2000" dirty="0"/>
              <a:t>Rahman et al. (2021) – “Smart Municipal Monitoring Using Real-Time Data Systems”</a:t>
            </a:r>
          </a:p>
          <a:p>
            <a:r>
              <a:rPr lang="en-IN" sz="2000" dirty="0"/>
              <a:t>     Presented real-time monitoring methods for urban infrastructure management.</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Patel &amp; Doshi (2022) – “Web-Based Civic Issue Reporting and Management System”</a:t>
            </a:r>
          </a:p>
          <a:p>
            <a:r>
              <a:rPr lang="en-IN" sz="2000" dirty="0"/>
              <a:t>     Designed an online platform integrating image-based complaint verification.</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Li et al. (2022) – “Artificial Intelligence for Urban Infrastructure Monitoring”</a:t>
            </a:r>
          </a:p>
          <a:p>
            <a:r>
              <a:rPr lang="en-IN" sz="2000" dirty="0"/>
              <a:t>     Explored AI techniques for detecting and managing city infrastructure problems.</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Singh et al. (2023) – “Crowdsourced Smart City Complaint Management Framework”</a:t>
            </a:r>
          </a:p>
          <a:p>
            <a:r>
              <a:rPr lang="en-IN" sz="2000" dirty="0"/>
              <a:t>     Proposed citizen-driven reporting systems to improve accountability.</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Verma &amp; Kaur (2024) – “Intelligent Civic Issue Tracking and Notification System”</a:t>
            </a:r>
          </a:p>
          <a:p>
            <a:r>
              <a:rPr lang="en-IN" sz="2000" dirty="0"/>
              <a:t>      Developed automated complaint routing with notification-based updates</a:t>
            </a:r>
            <a:r>
              <a:rPr lang="en-IN" dirty="0"/>
              <a:t>.</a:t>
            </a:r>
          </a:p>
        </p:txBody>
      </p:sp>
    </p:spTree>
    <p:extLst>
      <p:ext uri="{BB962C8B-B14F-4D97-AF65-F5344CB8AC3E}">
        <p14:creationId xmlns:p14="http://schemas.microsoft.com/office/powerpoint/2010/main" val="2376434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FA6D4-755F-F81B-340C-811EF9A2BC5C}"/>
              </a:ext>
            </a:extLst>
          </p:cNvPr>
          <p:cNvSpPr>
            <a:spLocks noGrp="1"/>
          </p:cNvSpPr>
          <p:nvPr>
            <p:ph type="title"/>
          </p:nvPr>
        </p:nvSpPr>
        <p:spPr>
          <a:xfrm>
            <a:off x="4267200" y="228601"/>
            <a:ext cx="4876800" cy="492443"/>
          </a:xfrm>
        </p:spPr>
        <p:txBody>
          <a:bodyPr/>
          <a:lstStyle/>
          <a:p>
            <a:r>
              <a:rPr lang="en-US" sz="3200" b="1" dirty="0"/>
              <a:t>MODULE 1</a:t>
            </a:r>
            <a:endParaRPr lang="en-IN" sz="3200" b="1" dirty="0"/>
          </a:p>
        </p:txBody>
      </p:sp>
      <p:sp>
        <p:nvSpPr>
          <p:cNvPr id="3" name="Content Placeholder 2">
            <a:extLst>
              <a:ext uri="{FF2B5EF4-FFF2-40B4-BE49-F238E27FC236}">
                <a16:creationId xmlns:a16="http://schemas.microsoft.com/office/drawing/2014/main" id="{E7A8DCF6-B25E-2F85-C632-B58BC551773F}"/>
              </a:ext>
            </a:extLst>
          </p:cNvPr>
          <p:cNvSpPr>
            <a:spLocks noGrp="1"/>
          </p:cNvSpPr>
          <p:nvPr>
            <p:ph sz="half" idx="2"/>
          </p:nvPr>
        </p:nvSpPr>
        <p:spPr>
          <a:xfrm>
            <a:off x="838200" y="754381"/>
            <a:ext cx="10668000" cy="6032421"/>
          </a:xfrm>
        </p:spPr>
        <p:txBody>
          <a:bodyPr/>
          <a:lstStyle/>
          <a:p>
            <a:endParaRPr lang="en-IN" b="1" dirty="0"/>
          </a:p>
          <a:p>
            <a:r>
              <a:rPr lang="en-IN" b="1" dirty="0"/>
              <a:t>User Authentication &amp; Authorization</a:t>
            </a:r>
          </a:p>
          <a:p>
            <a:endParaRPr lang="en-US" b="1" dirty="0"/>
          </a:p>
          <a:p>
            <a:r>
              <a:rPr lang="en-US" sz="2000" b="1" dirty="0"/>
              <a:t>Description</a:t>
            </a:r>
          </a:p>
          <a:p>
            <a:pPr algn="just">
              <a:lnSpc>
                <a:spcPct val="150000"/>
              </a:lnSpc>
            </a:pPr>
            <a:r>
              <a:rPr lang="en-US" sz="2000" b="1" dirty="0"/>
              <a:t>     </a:t>
            </a:r>
            <a:r>
              <a:rPr lang="en-US" sz="2000" dirty="0"/>
              <a:t>This module manages secure user access to the system by providing registration and login functionalities. It verifies user identity and controls access based on user roles.</a:t>
            </a:r>
          </a:p>
          <a:p>
            <a:endParaRPr lang="en-US" sz="2000" b="1" dirty="0"/>
          </a:p>
          <a:p>
            <a:r>
              <a:rPr lang="en-US" sz="2000" b="1" dirty="0"/>
              <a:t>Points</a:t>
            </a:r>
          </a:p>
          <a:p>
            <a:endParaRPr lang="en-US" sz="2000" b="1" dirty="0"/>
          </a:p>
          <a:p>
            <a:pPr marL="342900" indent="-342900">
              <a:buFont typeface="Arial" panose="020B0604020202020204" pitchFamily="34" charset="0"/>
              <a:buChar char="•"/>
            </a:pPr>
            <a:r>
              <a:rPr lang="en-US" sz="2000" dirty="0"/>
              <a:t>User registration using name, email, and password</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Secure login authentication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Google Sign-In support</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Role-based access control (Citizen/Admin)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JWT-based session management</a:t>
            </a:r>
            <a:endParaRPr lang="en-IN" sz="2000" dirty="0"/>
          </a:p>
        </p:txBody>
      </p:sp>
    </p:spTree>
    <p:extLst>
      <p:ext uri="{BB962C8B-B14F-4D97-AF65-F5344CB8AC3E}">
        <p14:creationId xmlns:p14="http://schemas.microsoft.com/office/powerpoint/2010/main" val="8833273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FC5F0-69BF-47ED-4EDD-AD9DE7A92DEE}"/>
              </a:ext>
            </a:extLst>
          </p:cNvPr>
          <p:cNvSpPr>
            <a:spLocks noGrp="1"/>
          </p:cNvSpPr>
          <p:nvPr>
            <p:ph type="title"/>
          </p:nvPr>
        </p:nvSpPr>
        <p:spPr>
          <a:xfrm>
            <a:off x="4114800" y="228600"/>
            <a:ext cx="4648200" cy="492443"/>
          </a:xfrm>
        </p:spPr>
        <p:txBody>
          <a:bodyPr/>
          <a:lstStyle/>
          <a:p>
            <a:r>
              <a:rPr lang="en-US" sz="3200" b="1" dirty="0"/>
              <a:t>MODULE 2</a:t>
            </a:r>
            <a:endParaRPr lang="en-IN" sz="3200" b="1" dirty="0"/>
          </a:p>
        </p:txBody>
      </p:sp>
      <p:sp>
        <p:nvSpPr>
          <p:cNvPr id="3" name="Content Placeholder 2">
            <a:extLst>
              <a:ext uri="{FF2B5EF4-FFF2-40B4-BE49-F238E27FC236}">
                <a16:creationId xmlns:a16="http://schemas.microsoft.com/office/drawing/2014/main" id="{ABFC5610-EE80-D405-81F5-D3606BF7A78A}"/>
              </a:ext>
            </a:extLst>
          </p:cNvPr>
          <p:cNvSpPr>
            <a:spLocks noGrp="1"/>
          </p:cNvSpPr>
          <p:nvPr>
            <p:ph sz="half" idx="2"/>
          </p:nvPr>
        </p:nvSpPr>
        <p:spPr>
          <a:xfrm>
            <a:off x="838200" y="990600"/>
            <a:ext cx="10896600" cy="5047536"/>
          </a:xfrm>
        </p:spPr>
        <p:txBody>
          <a:bodyPr/>
          <a:lstStyle/>
          <a:p>
            <a:r>
              <a:rPr lang="en-US" b="1" dirty="0"/>
              <a:t>Citizen Dashboard &amp; Profile Management</a:t>
            </a:r>
          </a:p>
          <a:p>
            <a:endParaRPr lang="en-US" b="1" dirty="0"/>
          </a:p>
          <a:p>
            <a:r>
              <a:rPr lang="en-US" sz="2000" b="1" dirty="0"/>
              <a:t>Description</a:t>
            </a:r>
          </a:p>
          <a:p>
            <a:pPr>
              <a:lnSpc>
                <a:spcPct val="150000"/>
              </a:lnSpc>
            </a:pPr>
            <a:r>
              <a:rPr lang="en-US" sz="2000" dirty="0"/>
              <a:t>        The citizen dashboard provides a centralized interface where users can access system services such as reporting issues and tracking complaints.</a:t>
            </a:r>
          </a:p>
          <a:p>
            <a:endParaRPr lang="en-US" sz="2000" b="1" dirty="0"/>
          </a:p>
          <a:p>
            <a:r>
              <a:rPr lang="en-US" sz="2000" b="1" dirty="0"/>
              <a:t>Points</a:t>
            </a:r>
          </a:p>
          <a:p>
            <a:endParaRPr lang="en-US" sz="2000" dirty="0"/>
          </a:p>
          <a:p>
            <a:pPr marL="342900" indent="-342900">
              <a:buFont typeface="Arial" panose="020B0604020202020204" pitchFamily="34" charset="0"/>
              <a:buChar char="•"/>
            </a:pPr>
            <a:r>
              <a:rPr lang="en-US" sz="2000" dirty="0"/>
              <a:t>Displays dashboard after login</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Access to report new issues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View reported complaints</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Profile and navigation management</a:t>
            </a:r>
          </a:p>
        </p:txBody>
      </p:sp>
    </p:spTree>
    <p:extLst>
      <p:ext uri="{BB962C8B-B14F-4D97-AF65-F5344CB8AC3E}">
        <p14:creationId xmlns:p14="http://schemas.microsoft.com/office/powerpoint/2010/main" val="1567933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F7633-9FC7-541A-C36E-B0567B4FC793}"/>
              </a:ext>
            </a:extLst>
          </p:cNvPr>
          <p:cNvSpPr>
            <a:spLocks noGrp="1"/>
          </p:cNvSpPr>
          <p:nvPr>
            <p:ph type="title"/>
          </p:nvPr>
        </p:nvSpPr>
        <p:spPr>
          <a:xfrm>
            <a:off x="3429000" y="304800"/>
            <a:ext cx="4572000" cy="492443"/>
          </a:xfrm>
        </p:spPr>
        <p:txBody>
          <a:bodyPr/>
          <a:lstStyle/>
          <a:p>
            <a:r>
              <a:rPr lang="en-US" sz="3200" b="1" dirty="0"/>
              <a:t>           MODULE 3</a:t>
            </a:r>
            <a:endParaRPr lang="en-IN" sz="3200" b="1" dirty="0"/>
          </a:p>
        </p:txBody>
      </p:sp>
      <p:sp>
        <p:nvSpPr>
          <p:cNvPr id="3" name="Content Placeholder 2">
            <a:extLst>
              <a:ext uri="{FF2B5EF4-FFF2-40B4-BE49-F238E27FC236}">
                <a16:creationId xmlns:a16="http://schemas.microsoft.com/office/drawing/2014/main" id="{AD68A798-ACA3-7456-26E8-D32EAA6D9743}"/>
              </a:ext>
            </a:extLst>
          </p:cNvPr>
          <p:cNvSpPr>
            <a:spLocks noGrp="1"/>
          </p:cNvSpPr>
          <p:nvPr>
            <p:ph sz="half" idx="2"/>
          </p:nvPr>
        </p:nvSpPr>
        <p:spPr>
          <a:xfrm>
            <a:off x="838200" y="1143000"/>
            <a:ext cx="10972800" cy="4892173"/>
          </a:xfrm>
        </p:spPr>
        <p:txBody>
          <a:bodyPr/>
          <a:lstStyle/>
          <a:p>
            <a:r>
              <a:rPr lang="en-US" b="1" dirty="0"/>
              <a:t>Issue Reporting System</a:t>
            </a:r>
          </a:p>
          <a:p>
            <a:endParaRPr lang="en-US" b="1" dirty="0"/>
          </a:p>
          <a:p>
            <a:r>
              <a:rPr lang="en-US" sz="2000" b="1" dirty="0"/>
              <a:t>Description</a:t>
            </a:r>
          </a:p>
          <a:p>
            <a:pPr>
              <a:lnSpc>
                <a:spcPct val="150000"/>
              </a:lnSpc>
            </a:pPr>
            <a:r>
              <a:rPr lang="en-US" dirty="0"/>
              <a:t>         </a:t>
            </a:r>
            <a:r>
              <a:rPr lang="en-US" sz="2000" dirty="0"/>
              <a:t>This module allows citizens to report civic problems by submitting issue details along with supporting images and location information.</a:t>
            </a:r>
          </a:p>
          <a:p>
            <a:pPr>
              <a:lnSpc>
                <a:spcPct val="150000"/>
              </a:lnSpc>
            </a:pPr>
            <a:r>
              <a:rPr lang="en-US" sz="2000" b="1" dirty="0"/>
              <a:t>Points</a:t>
            </a:r>
          </a:p>
          <a:p>
            <a:pPr marL="342900" indent="-342900">
              <a:lnSpc>
                <a:spcPct val="200000"/>
              </a:lnSpc>
              <a:buFont typeface="Arial" panose="020B0604020202020204" pitchFamily="34" charset="0"/>
              <a:buChar char="•"/>
            </a:pPr>
            <a:r>
              <a:rPr lang="en-US" sz="2000" dirty="0"/>
              <a:t>Submit civic issue details</a:t>
            </a:r>
          </a:p>
          <a:p>
            <a:pPr marL="342900" indent="-342900">
              <a:lnSpc>
                <a:spcPct val="200000"/>
              </a:lnSpc>
              <a:buFont typeface="Arial" panose="020B0604020202020204" pitchFamily="34" charset="0"/>
              <a:buChar char="•"/>
            </a:pPr>
            <a:r>
              <a:rPr lang="en-US" sz="2000" dirty="0"/>
              <a:t>Upload issue images</a:t>
            </a:r>
          </a:p>
          <a:p>
            <a:pPr marL="342900" indent="-342900">
              <a:lnSpc>
                <a:spcPct val="200000"/>
              </a:lnSpc>
              <a:buFont typeface="Arial" panose="020B0604020202020204" pitchFamily="34" charset="0"/>
              <a:buChar char="•"/>
            </a:pPr>
            <a:r>
              <a:rPr lang="en-US" sz="2000" dirty="0"/>
              <a:t>Select issue category</a:t>
            </a:r>
          </a:p>
          <a:p>
            <a:pPr marL="342900" indent="-342900">
              <a:lnSpc>
                <a:spcPct val="200000"/>
              </a:lnSpc>
              <a:buFont typeface="Arial" panose="020B0604020202020204" pitchFamily="34" charset="0"/>
              <a:buChar char="•"/>
            </a:pPr>
            <a:r>
              <a:rPr lang="en-US" sz="2000" dirty="0"/>
              <a:t>Capture location information</a:t>
            </a:r>
          </a:p>
        </p:txBody>
      </p:sp>
    </p:spTree>
    <p:extLst>
      <p:ext uri="{BB962C8B-B14F-4D97-AF65-F5344CB8AC3E}">
        <p14:creationId xmlns:p14="http://schemas.microsoft.com/office/powerpoint/2010/main" val="42060709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B6C09-3B97-F5C4-79A9-7286A9254305}"/>
              </a:ext>
            </a:extLst>
          </p:cNvPr>
          <p:cNvSpPr>
            <a:spLocks noGrp="1"/>
          </p:cNvSpPr>
          <p:nvPr>
            <p:ph type="ctrTitle"/>
          </p:nvPr>
        </p:nvSpPr>
        <p:spPr>
          <a:xfrm>
            <a:off x="1219200" y="533400"/>
            <a:ext cx="10363200" cy="340044"/>
          </a:xfrm>
        </p:spPr>
        <p:txBody>
          <a:bodyPr/>
          <a:lstStyle/>
          <a:p>
            <a:r>
              <a:rPr lang="en-US" sz="3200" b="1" dirty="0"/>
              <a:t>                      DATAFLOW DIAGRAM</a:t>
            </a:r>
            <a:endParaRPr lang="en-IN" sz="3200" b="1" dirty="0"/>
          </a:p>
        </p:txBody>
      </p:sp>
      <p:pic>
        <p:nvPicPr>
          <p:cNvPr id="5" name="Picture 4">
            <a:extLst>
              <a:ext uri="{FF2B5EF4-FFF2-40B4-BE49-F238E27FC236}">
                <a16:creationId xmlns:a16="http://schemas.microsoft.com/office/drawing/2014/main" id="{0AF31DDC-4B3D-529A-DCC5-5180FBB6D6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371600"/>
            <a:ext cx="8534400" cy="4572000"/>
          </a:xfrm>
          <a:prstGeom prst="rect">
            <a:avLst/>
          </a:prstGeom>
        </p:spPr>
      </p:pic>
    </p:spTree>
    <p:extLst>
      <p:ext uri="{BB962C8B-B14F-4D97-AF65-F5344CB8AC3E}">
        <p14:creationId xmlns:p14="http://schemas.microsoft.com/office/powerpoint/2010/main" val="4171991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386E3-782B-3623-4B00-66AB0BE334C6}"/>
              </a:ext>
            </a:extLst>
          </p:cNvPr>
          <p:cNvSpPr>
            <a:spLocks noGrp="1"/>
          </p:cNvSpPr>
          <p:nvPr>
            <p:ph type="ctrTitle"/>
          </p:nvPr>
        </p:nvSpPr>
        <p:spPr>
          <a:xfrm>
            <a:off x="914400" y="381001"/>
            <a:ext cx="10363200" cy="492443"/>
          </a:xfrm>
        </p:spPr>
        <p:txBody>
          <a:bodyPr/>
          <a:lstStyle/>
          <a:p>
            <a:r>
              <a:rPr lang="en-US" sz="3200" b="1" dirty="0"/>
              <a:t>                              OVERALL DIAGRAM</a:t>
            </a:r>
            <a:endParaRPr lang="en-IN" sz="3200" b="1" dirty="0"/>
          </a:p>
        </p:txBody>
      </p:sp>
      <p:sp>
        <p:nvSpPr>
          <p:cNvPr id="3" name="Subtitle 2">
            <a:extLst>
              <a:ext uri="{FF2B5EF4-FFF2-40B4-BE49-F238E27FC236}">
                <a16:creationId xmlns:a16="http://schemas.microsoft.com/office/drawing/2014/main" id="{C26B698C-F10A-7099-1E4C-496559DFCB68}"/>
              </a:ext>
            </a:extLst>
          </p:cNvPr>
          <p:cNvSpPr>
            <a:spLocks noGrp="1"/>
          </p:cNvSpPr>
          <p:nvPr>
            <p:ph type="subTitle" idx="4"/>
          </p:nvPr>
        </p:nvSpPr>
        <p:spPr/>
        <p:txBody>
          <a:bodyPr/>
          <a:lstStyle/>
          <a:p>
            <a:endParaRPr lang="en-IN" dirty="0"/>
          </a:p>
        </p:txBody>
      </p:sp>
      <p:pic>
        <p:nvPicPr>
          <p:cNvPr id="5" name="Picture 4">
            <a:extLst>
              <a:ext uri="{FF2B5EF4-FFF2-40B4-BE49-F238E27FC236}">
                <a16:creationId xmlns:a16="http://schemas.microsoft.com/office/drawing/2014/main" id="{1A3EFB75-25B2-1E67-B077-0FDB641177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143000"/>
            <a:ext cx="8915400" cy="5554980"/>
          </a:xfrm>
          <a:prstGeom prst="rect">
            <a:avLst/>
          </a:prstGeom>
        </p:spPr>
      </p:pic>
    </p:spTree>
    <p:extLst>
      <p:ext uri="{BB962C8B-B14F-4D97-AF65-F5344CB8AC3E}">
        <p14:creationId xmlns:p14="http://schemas.microsoft.com/office/powerpoint/2010/main" val="880990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50426-E96E-03A3-877C-00218C98A38B}"/>
              </a:ext>
            </a:extLst>
          </p:cNvPr>
          <p:cNvSpPr>
            <a:spLocks noGrp="1"/>
          </p:cNvSpPr>
          <p:nvPr>
            <p:ph type="ctrTitle"/>
          </p:nvPr>
        </p:nvSpPr>
        <p:spPr>
          <a:xfrm>
            <a:off x="914400" y="533401"/>
            <a:ext cx="10363200" cy="492443"/>
          </a:xfrm>
        </p:spPr>
        <p:txBody>
          <a:bodyPr/>
          <a:lstStyle/>
          <a:p>
            <a:r>
              <a:rPr lang="en-US" sz="3200" b="1" dirty="0"/>
              <a:t>                     SOFTWARE REQUIREMENTS</a:t>
            </a:r>
            <a:endParaRPr lang="en-IN" sz="3200" b="1" dirty="0"/>
          </a:p>
        </p:txBody>
      </p:sp>
      <p:sp>
        <p:nvSpPr>
          <p:cNvPr id="3" name="Subtitle 2">
            <a:extLst>
              <a:ext uri="{FF2B5EF4-FFF2-40B4-BE49-F238E27FC236}">
                <a16:creationId xmlns:a16="http://schemas.microsoft.com/office/drawing/2014/main" id="{56996114-946C-EBA0-5B04-824C3BBF540A}"/>
              </a:ext>
            </a:extLst>
          </p:cNvPr>
          <p:cNvSpPr>
            <a:spLocks noGrp="1"/>
          </p:cNvSpPr>
          <p:nvPr>
            <p:ph type="subTitle" idx="4"/>
          </p:nvPr>
        </p:nvSpPr>
        <p:spPr>
          <a:xfrm>
            <a:off x="1447800" y="1143000"/>
            <a:ext cx="8534400" cy="5084533"/>
          </a:xfrm>
        </p:spPr>
        <p:txBody>
          <a:bodyPr/>
          <a:lstStyle/>
          <a:p>
            <a:endParaRPr lang="en-IN" dirty="0"/>
          </a:p>
          <a:p>
            <a:pPr marL="342900" indent="-342900">
              <a:buFont typeface="Arial" panose="020B0604020202020204" pitchFamily="34" charset="0"/>
              <a:buChar char="•"/>
            </a:pPr>
            <a:r>
              <a:rPr lang="en-IN" sz="2000" dirty="0"/>
              <a:t>Operating System: Windows / Linux</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Frontend: HTML, CSS, JavaScript</a:t>
            </a:r>
          </a:p>
          <a:p>
            <a:endParaRPr lang="en-IN" sz="2000" dirty="0"/>
          </a:p>
          <a:p>
            <a:pPr marL="342900" indent="-342900">
              <a:buFont typeface="Arial" panose="020B0604020202020204" pitchFamily="34" charset="0"/>
              <a:buChar char="•"/>
            </a:pPr>
            <a:r>
              <a:rPr lang="en-IN" sz="2000" dirty="0"/>
              <a:t>Backend: Node.js / Python</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Database: MySQL</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IDE: Visual Studio Code</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Web Browser: Google Chrome</a:t>
            </a:r>
          </a:p>
          <a:p>
            <a:pPr marL="342900" indent="-342900">
              <a:buFont typeface="Arial" panose="020B0604020202020204" pitchFamily="34" charset="0"/>
              <a:buChar char="•"/>
            </a:pPr>
            <a:endParaRPr lang="en-IN" sz="2000" dirty="0"/>
          </a:p>
          <a:p>
            <a:pPr marL="342900" indent="-342900">
              <a:buFont typeface="Arial" panose="020B0604020202020204" pitchFamily="34" charset="0"/>
              <a:buChar char="•"/>
            </a:pPr>
            <a:r>
              <a:rPr lang="en-IN" sz="2000" dirty="0"/>
              <a:t>Authentication: JWT / Google OAuth</a:t>
            </a:r>
          </a:p>
          <a:p>
            <a:pPr marL="342900" indent="-342900">
              <a:buFont typeface="Arial" panose="020B0604020202020204" pitchFamily="34" charset="0"/>
              <a:buChar char="•"/>
            </a:pPr>
            <a:endParaRPr lang="en-IN" sz="2000" dirty="0"/>
          </a:p>
          <a:p>
            <a:pPr marL="342900" indent="-342900">
              <a:lnSpc>
                <a:spcPct val="150000"/>
              </a:lnSpc>
              <a:buFont typeface="Arial" panose="020B0604020202020204" pitchFamily="34" charset="0"/>
              <a:buChar char="•"/>
            </a:pPr>
            <a:r>
              <a:rPr lang="en-IN" sz="2000" dirty="0"/>
              <a:t>Map API: Google Maps / Leaflet</a:t>
            </a:r>
          </a:p>
        </p:txBody>
      </p:sp>
    </p:spTree>
    <p:extLst>
      <p:ext uri="{BB962C8B-B14F-4D97-AF65-F5344CB8AC3E}">
        <p14:creationId xmlns:p14="http://schemas.microsoft.com/office/powerpoint/2010/main" val="1458034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18FE254-2967-F4A1-00E6-E6E388C47F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1143000"/>
            <a:ext cx="10058400" cy="5181600"/>
          </a:xfrm>
          <a:prstGeom prst="rect">
            <a:avLst/>
          </a:prstGeom>
        </p:spPr>
      </p:pic>
      <p:sp>
        <p:nvSpPr>
          <p:cNvPr id="9" name="TextBox 8">
            <a:extLst>
              <a:ext uri="{FF2B5EF4-FFF2-40B4-BE49-F238E27FC236}">
                <a16:creationId xmlns:a16="http://schemas.microsoft.com/office/drawing/2014/main" id="{87BCC96B-5453-F0D0-39D2-921040239974}"/>
              </a:ext>
            </a:extLst>
          </p:cNvPr>
          <p:cNvSpPr txBox="1"/>
          <p:nvPr/>
        </p:nvSpPr>
        <p:spPr>
          <a:xfrm>
            <a:off x="1066800" y="304800"/>
            <a:ext cx="10287000"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OUTPUT</a:t>
            </a:r>
          </a:p>
        </p:txBody>
      </p:sp>
    </p:spTree>
    <p:extLst>
      <p:ext uri="{BB962C8B-B14F-4D97-AF65-F5344CB8AC3E}">
        <p14:creationId xmlns:p14="http://schemas.microsoft.com/office/powerpoint/2010/main" val="1501351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8D3F3A-9A83-979C-72F4-71907468AE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457200"/>
            <a:ext cx="10210800" cy="5486400"/>
          </a:xfrm>
          <a:prstGeom prst="rect">
            <a:avLst/>
          </a:prstGeom>
        </p:spPr>
      </p:pic>
    </p:spTree>
    <p:extLst>
      <p:ext uri="{BB962C8B-B14F-4D97-AF65-F5344CB8AC3E}">
        <p14:creationId xmlns:p14="http://schemas.microsoft.com/office/powerpoint/2010/main" val="1746862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DBEEA2-D73D-08F8-99DD-B0CAA0E184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457200"/>
            <a:ext cx="9906000" cy="6019800"/>
          </a:xfrm>
          <a:prstGeom prst="rect">
            <a:avLst/>
          </a:prstGeom>
        </p:spPr>
      </p:pic>
    </p:spTree>
    <p:extLst>
      <p:ext uri="{BB962C8B-B14F-4D97-AF65-F5344CB8AC3E}">
        <p14:creationId xmlns:p14="http://schemas.microsoft.com/office/powerpoint/2010/main" val="4142487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A274D17-1A04-0A2B-CBE8-58ACA3EE84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609600"/>
            <a:ext cx="10134600" cy="5486400"/>
          </a:xfrm>
          <a:prstGeom prst="rect">
            <a:avLst/>
          </a:prstGeom>
        </p:spPr>
      </p:pic>
    </p:spTree>
    <p:extLst>
      <p:ext uri="{BB962C8B-B14F-4D97-AF65-F5344CB8AC3E}">
        <p14:creationId xmlns:p14="http://schemas.microsoft.com/office/powerpoint/2010/main" val="1953493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F0E06-60FE-7C24-7DE3-4CFCF10746D9}"/>
              </a:ext>
            </a:extLst>
          </p:cNvPr>
          <p:cNvSpPr>
            <a:spLocks noGrp="1"/>
          </p:cNvSpPr>
          <p:nvPr>
            <p:ph type="title"/>
          </p:nvPr>
        </p:nvSpPr>
        <p:spPr>
          <a:xfrm>
            <a:off x="0" y="609600"/>
            <a:ext cx="12192000" cy="492443"/>
          </a:xfrm>
        </p:spPr>
        <p:txBody>
          <a:bodyPr/>
          <a:lstStyle/>
          <a:p>
            <a:pPr algn="ctr"/>
            <a:r>
              <a:rPr lang="en-IN" sz="3200" b="1" dirty="0"/>
              <a:t>REFERENCE</a:t>
            </a:r>
          </a:p>
        </p:txBody>
      </p:sp>
      <p:sp>
        <p:nvSpPr>
          <p:cNvPr id="3" name="TextBox 2">
            <a:extLst>
              <a:ext uri="{FF2B5EF4-FFF2-40B4-BE49-F238E27FC236}">
                <a16:creationId xmlns:a16="http://schemas.microsoft.com/office/drawing/2014/main" id="{B2DAE59A-ECCB-204A-1453-F3A0703D7D93}"/>
              </a:ext>
            </a:extLst>
          </p:cNvPr>
          <p:cNvSpPr txBox="1"/>
          <p:nvPr/>
        </p:nvSpPr>
        <p:spPr>
          <a:xfrm>
            <a:off x="990600" y="1295400"/>
            <a:ext cx="10668000" cy="3730317"/>
          </a:xfrm>
          <a:prstGeom prst="rect">
            <a:avLst/>
          </a:prstGeom>
          <a:noFill/>
        </p:spPr>
        <p:txBody>
          <a:bodyPr wrap="square" rtlCol="0">
            <a:spAutoFit/>
          </a:bodyPr>
          <a:lstStyle/>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Sheth, et al., “Crowdsourcing for Smart Cities: Applications and Challenges,” </a:t>
            </a:r>
            <a:r>
              <a:rPr lang="en-IN" sz="2000" i="1" dirty="0">
                <a:latin typeface="Times New Roman" panose="02020603050405020304" pitchFamily="18" charset="0"/>
                <a:cs typeface="Times New Roman" panose="02020603050405020304" pitchFamily="18" charset="0"/>
              </a:rPr>
              <a:t>IEEE Internet Computing</a:t>
            </a:r>
            <a:endParaRPr lang="en-IN" sz="20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World Bank, “Crowdsourcing in Urban Governance: Lessons from Developing Countries”</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S. Brabham, “Crowdsourcing Public Participation in Urban Planning,” </a:t>
            </a:r>
            <a:r>
              <a:rPr lang="en-IN" sz="2000" i="1" dirty="0">
                <a:latin typeface="Times New Roman" panose="02020603050405020304" pitchFamily="18" charset="0"/>
                <a:cs typeface="Times New Roman" panose="02020603050405020304" pitchFamily="18" charset="0"/>
              </a:rPr>
              <a:t>Journal of Planning Literature</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UN E-Government Survey 2022: “Digital Government in the Post-Pandemic Era”</a:t>
            </a:r>
          </a:p>
          <a:p>
            <a:pPr marL="457200" indent="-457200">
              <a:lnSpc>
                <a:spcPct val="150000"/>
              </a:lnSpc>
              <a:buFont typeface="+mj-lt"/>
              <a:buAutoNum type="arabicPeriod"/>
            </a:pPr>
            <a:r>
              <a:rPr lang="en-IN" sz="2000" dirty="0">
                <a:latin typeface="Times New Roman" panose="02020603050405020304" pitchFamily="18" charset="0"/>
                <a:cs typeface="Times New Roman" panose="02020603050405020304" pitchFamily="18" charset="0"/>
              </a:rPr>
              <a:t>S. </a:t>
            </a:r>
            <a:r>
              <a:rPr lang="en-IN" sz="2000" dirty="0" err="1">
                <a:latin typeface="Times New Roman" panose="02020603050405020304" pitchFamily="18" charset="0"/>
                <a:cs typeface="Times New Roman" panose="02020603050405020304" pitchFamily="18" charset="0"/>
              </a:rPr>
              <a:t>Haklay</a:t>
            </a:r>
            <a:r>
              <a:rPr lang="en-IN" sz="2000" dirty="0">
                <a:latin typeface="Times New Roman" panose="02020603050405020304" pitchFamily="18" charset="0"/>
                <a:cs typeface="Times New Roman" panose="02020603050405020304" pitchFamily="18" charset="0"/>
              </a:rPr>
              <a:t>, “Citizen Science and Crowdsourced Geographic Information: Overview and Typology”</a:t>
            </a:r>
          </a:p>
        </p:txBody>
      </p:sp>
    </p:spTree>
    <p:extLst>
      <p:ext uri="{BB962C8B-B14F-4D97-AF65-F5344CB8AC3E}">
        <p14:creationId xmlns:p14="http://schemas.microsoft.com/office/powerpoint/2010/main" val="2046477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535</TotalTime>
  <Words>1123</Words>
  <Application>Microsoft Office PowerPoint</Application>
  <PresentationFormat>Widescreen</PresentationFormat>
  <Paragraphs>128</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Times New Roman</vt:lpstr>
      <vt:lpstr>Office Theme</vt:lpstr>
      <vt:lpstr>VIVEKANANDHA COLLEGE OF ENGINEERING FOR WOMEN </vt:lpstr>
      <vt:lpstr>ABSTRACT</vt:lpstr>
      <vt:lpstr>                                INTRODUCTION</vt:lpstr>
      <vt:lpstr>                                EXISTING SYSTEM</vt:lpstr>
      <vt:lpstr>                               PROPOSED SYSTEM</vt:lpstr>
      <vt:lpstr>LITERATURE SURVEY</vt:lpstr>
      <vt:lpstr>PowerPoint Presentation</vt:lpstr>
      <vt:lpstr>MODULE 1</vt:lpstr>
      <vt:lpstr>MODULE 2</vt:lpstr>
      <vt:lpstr>           MODULE 3</vt:lpstr>
      <vt:lpstr>                      DATAFLOW DIAGRAM</vt:lpstr>
      <vt:lpstr>                              OVERALL DIAGRAM</vt:lpstr>
      <vt:lpstr>                     SOFTWARE REQUIREMENTS</vt:lpstr>
      <vt:lpstr>PowerPoint Presentation</vt:lpstr>
      <vt:lpstr>PowerPoint Presentation</vt:lpstr>
      <vt:lpstr>PowerPoint Presentation</vt:lpstr>
      <vt:lpstr>PowerPoint Presentation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Nithyasri P</dc:creator>
  <cp:lastModifiedBy>Nithya Raju</cp:lastModifiedBy>
  <cp:revision>7</cp:revision>
  <dcterms:created xsi:type="dcterms:W3CDTF">2026-01-20T06:51:34Z</dcterms:created>
  <dcterms:modified xsi:type="dcterms:W3CDTF">2026-03-02T13:32:34Z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2026-01-20T00:00:00Z</vt:filetime>
  </property>
  <property fmtid="{D5CDD505-2E9C-101B-9397-08002B2CF9AE}" pid="3" name="Creator">
    <vt:lpwstr>Google</vt:lpwstr>
  </property>
  <property fmtid="{D5CDD505-2E9C-101B-9397-08002B2CF9AE}" pid="4" name="LastSaved">
    <vt:filetime>2026-01-20T00:00:00Z</vt:filetime>
  </property>
</Properties>
</file>